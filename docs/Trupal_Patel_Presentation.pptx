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731520" y="12344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E7E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FF2E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CS5610- Web Development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713225" y="2169286"/>
            <a:ext cx="10972800" cy="20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A"/>
              </a:buClr>
              <a:buSzPts val="5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Trupal Jageshkumar Patel's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A"/>
              </a:buClr>
              <a:buSzPts val="5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 Homepage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749808" y="3977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BD6"/>
              </a:buClr>
              <a:buSzPts val="1500"/>
              <a:buFont typeface="Times New Roman"/>
              <a:buNone/>
            </a:pPr>
            <a:r>
              <a:rPr b="0" i="0" lang="en-US" sz="1500" u="none" cap="none" strike="noStrike">
                <a:solidFill>
                  <a:srgbClr val="1F5B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vision · deep learning · edge AI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749808" y="59436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A"/>
              </a:buClr>
              <a:buSzPts val="1400"/>
              <a:buFont typeface="Times New Roman"/>
              <a:buNone/>
            </a:pPr>
            <a:r>
              <a:rPr b="1" i="0" lang="en-US" sz="14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Trupal Jageshkumar Patel</a:t>
            </a:r>
            <a:r>
              <a:rPr b="0" i="0" lang="en-US" sz="1400" u="none" cap="none" strike="noStrike">
                <a:solidFill>
                  <a:srgbClr val="5A6B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—   tpatel2103.github.io/Trupal-homepage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600" y="3931920"/>
            <a:ext cx="3200400" cy="2377440"/>
          </a:xfrm>
          <a:prstGeom prst="roundRect">
            <a:avLst>
              <a:gd fmla="val 1923" name="adj"/>
            </a:avLst>
          </a:prstGeom>
          <a:solidFill>
            <a:srgbClr val="FFFDF7"/>
          </a:solidFill>
          <a:ln cap="flat" cmpd="sng" w="15875">
            <a:solidFill>
              <a:srgbClr val="17203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7203A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 txBox="1"/>
          <p:nvPr/>
        </p:nvSpPr>
        <p:spPr>
          <a:xfrm>
            <a:off x="8412480" y="404164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81"/>
              </a:buClr>
              <a:buSzPts val="1050"/>
              <a:buFont typeface="Times New Roman"/>
              <a:buNone/>
            </a:pPr>
            <a:r>
              <a:rPr b="0" i="0" lang="en-US" sz="1050" u="none" cap="none" strike="noStrike">
                <a:solidFill>
                  <a:srgbClr val="5A6B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least-squares.playground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3"/>
          <p:cNvCxnSpPr/>
          <p:nvPr/>
        </p:nvCxnSpPr>
        <p:spPr>
          <a:xfrm>
            <a:off x="8412480" y="4434840"/>
            <a:ext cx="2834640" cy="0"/>
          </a:xfrm>
          <a:prstGeom prst="straightConnector1">
            <a:avLst/>
          </a:prstGeom>
          <a:noFill/>
          <a:ln cap="flat" cmpd="sng" w="12700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3"/>
          <p:cNvCxnSpPr/>
          <p:nvPr/>
        </p:nvCxnSpPr>
        <p:spPr>
          <a:xfrm>
            <a:off x="8686800" y="4617720"/>
            <a:ext cx="0" cy="1371600"/>
          </a:xfrm>
          <a:prstGeom prst="straightConnector1">
            <a:avLst/>
          </a:prstGeom>
          <a:noFill/>
          <a:ln cap="flat" cmpd="sng" w="12700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3"/>
          <p:cNvCxnSpPr/>
          <p:nvPr/>
        </p:nvCxnSpPr>
        <p:spPr>
          <a:xfrm>
            <a:off x="8686800" y="5989320"/>
            <a:ext cx="2377440" cy="0"/>
          </a:xfrm>
          <a:prstGeom prst="straightConnector1">
            <a:avLst/>
          </a:prstGeom>
          <a:noFill/>
          <a:ln cap="flat" cmpd="sng" w="12700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3"/>
          <p:cNvCxnSpPr/>
          <p:nvPr/>
        </p:nvCxnSpPr>
        <p:spPr>
          <a:xfrm flipH="1" rot="10800000">
            <a:off x="8778240" y="4846320"/>
            <a:ext cx="2194560" cy="1051560"/>
          </a:xfrm>
          <a:prstGeom prst="straightConnector1">
            <a:avLst/>
          </a:prstGeom>
          <a:noFill/>
          <a:ln cap="flat" cmpd="sng" w="28575">
            <a:solidFill>
              <a:srgbClr val="1F5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3"/>
          <p:cNvSpPr/>
          <p:nvPr/>
        </p:nvSpPr>
        <p:spPr>
          <a:xfrm>
            <a:off x="8951976" y="5792724"/>
            <a:ext cx="91440" cy="91440"/>
          </a:xfrm>
          <a:prstGeom prst="ellipse">
            <a:avLst/>
          </a:prstGeom>
          <a:solidFill>
            <a:srgbClr val="FF2E7E"/>
          </a:solidFill>
          <a:ln cap="flat" cmpd="sng" w="9525">
            <a:solidFill>
              <a:srgbClr val="172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9346997" y="5521147"/>
            <a:ext cx="91440" cy="91440"/>
          </a:xfrm>
          <a:prstGeom prst="ellipse">
            <a:avLst/>
          </a:prstGeom>
          <a:solidFill>
            <a:srgbClr val="FF2E7E"/>
          </a:solidFill>
          <a:ln cap="flat" cmpd="sng" w="9525">
            <a:solidFill>
              <a:srgbClr val="172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9698126" y="5435194"/>
            <a:ext cx="91440" cy="91440"/>
          </a:xfrm>
          <a:prstGeom prst="ellipse">
            <a:avLst/>
          </a:prstGeom>
          <a:solidFill>
            <a:srgbClr val="FF2E7E"/>
          </a:solidFill>
          <a:ln cap="flat" cmpd="sng" w="9525">
            <a:solidFill>
              <a:srgbClr val="172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10049256" y="5184648"/>
            <a:ext cx="91440" cy="91440"/>
          </a:xfrm>
          <a:prstGeom prst="ellipse">
            <a:avLst/>
          </a:prstGeom>
          <a:solidFill>
            <a:srgbClr val="FF2E7E"/>
          </a:solidFill>
          <a:ln cap="flat" cmpd="sng" w="9525">
            <a:solidFill>
              <a:srgbClr val="172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10378440" y="5109210"/>
            <a:ext cx="91440" cy="91440"/>
          </a:xfrm>
          <a:prstGeom prst="ellipse">
            <a:avLst/>
          </a:prstGeom>
          <a:solidFill>
            <a:srgbClr val="FF2E7E"/>
          </a:solidFill>
          <a:ln cap="flat" cmpd="sng" w="9525">
            <a:solidFill>
              <a:srgbClr val="172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10707624" y="4869180"/>
            <a:ext cx="91440" cy="91440"/>
          </a:xfrm>
          <a:prstGeom prst="ellipse">
            <a:avLst/>
          </a:prstGeom>
          <a:solidFill>
            <a:srgbClr val="FF2E7E"/>
          </a:solidFill>
          <a:ln cap="flat" cmpd="sng" w="9525">
            <a:solidFill>
              <a:srgbClr val="172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E7E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FF2E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731520" y="8686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A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731520" y="1783080"/>
            <a:ext cx="6126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A6B8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5A6B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static, front-end-only homepage that introduces me and my work — accessible, standards-compliant, and deployed publicly — using only the core web platform.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731520" y="3063240"/>
            <a:ext cx="62179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7203A"/>
              </a:buClr>
              <a:buSzPts val="1500"/>
              <a:buFont typeface="Times New Roman"/>
              <a:buChar char="•"/>
            </a:pPr>
            <a:r>
              <a:rPr b="0" i="0" lang="en-US" sz="15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Vanilla HTML5, CSS3, and ES6 modules — no frameworks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7203A"/>
              </a:buClr>
              <a:buSzPts val="1500"/>
              <a:buFont typeface="Times New Roman"/>
              <a:buChar char="•"/>
            </a:pPr>
            <a:r>
              <a:rPr b="0" i="0" lang="en-US" sz="15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 pages with clean URLs (three authored, one AI-generated)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7203A"/>
              </a:buClr>
              <a:buSzPts val="1500"/>
              <a:buFont typeface="Times New Roman"/>
              <a:buChar char="•"/>
            </a:pPr>
            <a:r>
              <a:rPr b="0" i="0" lang="en-US" sz="15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original interactive JavaScript feature, hand-written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7203A"/>
              </a:buClr>
              <a:buSzPts val="1500"/>
              <a:buFont typeface="Times New Roman"/>
              <a:buChar char="•"/>
            </a:pPr>
            <a:r>
              <a:rPr b="0" i="0" lang="en-US" sz="15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Accessible and W3C-valid; responsive down to mobile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7203A"/>
              </a:buClr>
              <a:buSzPts val="1500"/>
              <a:buFont typeface="Times New Roman"/>
              <a:buChar char="•"/>
            </a:pPr>
            <a:r>
              <a:rPr b="0" i="0" lang="en-US" sz="15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Deployed on GitHub Pages as a public site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" name="Google Shape;41;p4"/>
          <p:cNvGrpSpPr/>
          <p:nvPr/>
        </p:nvGrpSpPr>
        <p:grpSpPr>
          <a:xfrm>
            <a:off x="7680965" y="228605"/>
            <a:ext cx="4023360" cy="1554480"/>
            <a:chOff x="7406640" y="1783080"/>
            <a:chExt cx="4023360" cy="1554480"/>
          </a:xfrm>
        </p:grpSpPr>
        <p:sp>
          <p:nvSpPr>
            <p:cNvPr id="42" name="Google Shape;42;p4"/>
            <p:cNvSpPr/>
            <p:nvPr/>
          </p:nvSpPr>
          <p:spPr>
            <a:xfrm>
              <a:off x="7406640" y="1783080"/>
              <a:ext cx="4023360" cy="1554480"/>
            </a:xfrm>
            <a:prstGeom prst="roundRect">
              <a:avLst>
                <a:gd fmla="val 2941" name="adj"/>
              </a:avLst>
            </a:prstGeom>
            <a:solidFill>
              <a:srgbClr val="FFFDF7"/>
            </a:solidFill>
            <a:ln cap="flat" cmpd="sng" w="15875">
              <a:solidFill>
                <a:srgbClr val="17203A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63500">
                <a:srgbClr val="17203A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4"/>
            <p:cNvSpPr txBox="1"/>
            <p:nvPr/>
          </p:nvSpPr>
          <p:spPr>
            <a:xfrm>
              <a:off x="7607808" y="1938528"/>
              <a:ext cx="36576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2E7E"/>
                </a:buClr>
                <a:buSzPts val="1100"/>
                <a:buFont typeface="Times New Roman"/>
                <a:buNone/>
              </a:pPr>
              <a:r>
                <a:rPr b="0" i="0" lang="en-US" sz="1100" u="none" cap="none" strike="noStrike">
                  <a:solidFill>
                    <a:srgbClr val="FF2E7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site, in one line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4"/>
            <p:cNvSpPr txBox="1"/>
            <p:nvPr/>
          </p:nvSpPr>
          <p:spPr>
            <a:xfrm>
              <a:off x="7607808" y="2286000"/>
              <a:ext cx="36576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7203A"/>
                </a:buClr>
                <a:buSzPts val="1900"/>
                <a:buFont typeface="Times New Roman"/>
                <a:buNone/>
              </a:pPr>
              <a:r>
                <a:rPr b="1" i="0" lang="en-US" sz="1900" u="none" cap="none" strike="noStrike">
                  <a:solidFill>
                    <a:srgbClr val="17203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 fit models to the messy real world.</a:t>
              </a:r>
              <a:endPara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" name="Google Shape;45;p4"/>
          <p:cNvGrpSpPr/>
          <p:nvPr/>
        </p:nvGrpSpPr>
        <p:grpSpPr>
          <a:xfrm>
            <a:off x="6083239" y="3063226"/>
            <a:ext cx="5914251" cy="3277735"/>
            <a:chOff x="7406640" y="3383280"/>
            <a:chExt cx="4023300" cy="2229600"/>
          </a:xfrm>
        </p:grpSpPr>
        <p:sp>
          <p:nvSpPr>
            <p:cNvPr id="46" name="Google Shape;46;p4"/>
            <p:cNvSpPr/>
            <p:nvPr/>
          </p:nvSpPr>
          <p:spPr>
            <a:xfrm>
              <a:off x="7406640" y="3383280"/>
              <a:ext cx="4023300" cy="2229600"/>
            </a:xfrm>
            <a:prstGeom prst="roundRect">
              <a:avLst>
                <a:gd fmla="val 1640" name="adj"/>
              </a:avLst>
            </a:prstGeom>
            <a:solidFill>
              <a:srgbClr val="FFFDF7"/>
            </a:solidFill>
            <a:ln cap="flat" cmpd="sng" w="23325">
              <a:solidFill>
                <a:srgbClr val="17203A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9358" rotWithShape="0" algn="bl" dir="2700000" dist="93349">
                <a:srgbClr val="17203A"/>
              </a:outerShdw>
            </a:effectLst>
          </p:spPr>
          <p:txBody>
            <a:bodyPr anchorCtr="0" anchor="ctr" bIns="134400" lIns="134400" spcFirstLastPara="1" rIns="134400" wrap="square" tIns="134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8"/>
            </a:p>
          </p:txBody>
        </p:sp>
        <p:pic>
          <p:nvPicPr>
            <p:cNvPr descr="/home/claude/homepage/images/screenshot.png" id="47" name="Google Shape;47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482762" y="3429000"/>
              <a:ext cx="3872850" cy="21060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 txBox="1"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E7E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FF2E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 txBox="1"/>
          <p:nvPr/>
        </p:nvSpPr>
        <p:spPr>
          <a:xfrm>
            <a:off x="731520" y="8686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A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used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731520" y="1828800"/>
            <a:ext cx="3429000" cy="1783080"/>
          </a:xfrm>
          <a:prstGeom prst="roundRect">
            <a:avLst>
              <a:gd fmla="val 2564" name="adj"/>
            </a:avLst>
          </a:prstGeom>
          <a:solidFill>
            <a:srgbClr val="FFFDF7"/>
          </a:solidFill>
          <a:ln cap="flat" cmpd="sng" w="15875">
            <a:solidFill>
              <a:srgbClr val="17203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7203A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 txBox="1"/>
          <p:nvPr/>
        </p:nvSpPr>
        <p:spPr>
          <a:xfrm>
            <a:off x="932688" y="1975104"/>
            <a:ext cx="3026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A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932688" y="2395728"/>
            <a:ext cx="3026664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81"/>
              </a:buClr>
              <a:buSzPts val="1250"/>
              <a:buFont typeface="Times New Roman"/>
              <a:buNone/>
            </a:pPr>
            <a:r>
              <a:rPr b="0" i="0" lang="en-US" sz="1250" u="none" cap="none" strike="noStrike">
                <a:solidFill>
                  <a:srgbClr val="5A6B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structure, accessible markup, valid W3C output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325112" y="1828800"/>
            <a:ext cx="3429000" cy="1783080"/>
          </a:xfrm>
          <a:prstGeom prst="roundRect">
            <a:avLst>
              <a:gd fmla="val 2564" name="adj"/>
            </a:avLst>
          </a:prstGeom>
          <a:solidFill>
            <a:srgbClr val="FFFDF7"/>
          </a:solidFill>
          <a:ln cap="flat" cmpd="sng" w="15875">
            <a:solidFill>
              <a:srgbClr val="17203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7203A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 txBox="1"/>
          <p:nvPr/>
        </p:nvSpPr>
        <p:spPr>
          <a:xfrm>
            <a:off x="4526280" y="1975104"/>
            <a:ext cx="3026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A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CSS3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4526280" y="2395728"/>
            <a:ext cx="3026664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81"/>
              </a:buClr>
              <a:buSzPts val="1250"/>
              <a:buFont typeface="Times New Roman"/>
              <a:buNone/>
            </a:pPr>
            <a:r>
              <a:rPr b="0" i="0" lang="en-US" sz="1250" u="none" cap="none" strike="noStrike">
                <a:solidFill>
                  <a:srgbClr val="5A6B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 properties, Grid &amp; Flexbox, dark/light theming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7918704" y="1828800"/>
            <a:ext cx="3429000" cy="1783080"/>
          </a:xfrm>
          <a:prstGeom prst="roundRect">
            <a:avLst>
              <a:gd fmla="val 2564" name="adj"/>
            </a:avLst>
          </a:prstGeom>
          <a:solidFill>
            <a:srgbClr val="FFFDF7"/>
          </a:solidFill>
          <a:ln cap="flat" cmpd="sng" w="15875">
            <a:solidFill>
              <a:srgbClr val="17203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7203A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 txBox="1"/>
          <p:nvPr/>
        </p:nvSpPr>
        <p:spPr>
          <a:xfrm>
            <a:off x="8119872" y="1975104"/>
            <a:ext cx="3026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A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(ES6 modules)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8119872" y="2395728"/>
            <a:ext cx="3026664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81"/>
              </a:buClr>
              <a:buSzPts val="1250"/>
              <a:buFont typeface="Times New Roman"/>
              <a:buNone/>
            </a:pPr>
            <a:r>
              <a:rPr b="0" i="0" lang="en-US" sz="1250" u="none" cap="none" strike="noStrike">
                <a:solidFill>
                  <a:srgbClr val="5A6B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import/export, loaded with type="module"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731520" y="3886200"/>
            <a:ext cx="3429000" cy="1783080"/>
          </a:xfrm>
          <a:prstGeom prst="roundRect">
            <a:avLst>
              <a:gd fmla="val 2564" name="adj"/>
            </a:avLst>
          </a:prstGeom>
          <a:solidFill>
            <a:srgbClr val="FFFDF7"/>
          </a:solidFill>
          <a:ln cap="flat" cmpd="sng" w="15875">
            <a:solidFill>
              <a:srgbClr val="17203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7203A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 txBox="1"/>
          <p:nvPr/>
        </p:nvSpPr>
        <p:spPr>
          <a:xfrm>
            <a:off x="932688" y="4032504"/>
            <a:ext cx="3026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A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Canvas API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932688" y="4453128"/>
            <a:ext cx="3026664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81"/>
              </a:buClr>
              <a:buSzPts val="1250"/>
              <a:buFont typeface="Times New Roman"/>
              <a:buNone/>
            </a:pPr>
            <a:r>
              <a:rPr b="0" i="0" lang="en-US" sz="1250" u="none" cap="none" strike="noStrike">
                <a:solidFill>
                  <a:srgbClr val="5A6B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Hand-drawn interactive visuals, retina-aware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325112" y="3886200"/>
            <a:ext cx="3429000" cy="1783080"/>
          </a:xfrm>
          <a:prstGeom prst="roundRect">
            <a:avLst>
              <a:gd fmla="val 2564" name="adj"/>
            </a:avLst>
          </a:prstGeom>
          <a:solidFill>
            <a:srgbClr val="FFFDF7"/>
          </a:solidFill>
          <a:ln cap="flat" cmpd="sng" w="15875">
            <a:solidFill>
              <a:srgbClr val="17203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7203A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 txBox="1"/>
          <p:nvPr/>
        </p:nvSpPr>
        <p:spPr>
          <a:xfrm>
            <a:off x="4526280" y="4032504"/>
            <a:ext cx="3026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A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Fonts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4526280" y="4453128"/>
            <a:ext cx="3026664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81"/>
              </a:buClr>
              <a:buSzPts val="1250"/>
              <a:buFont typeface="Times New Roman"/>
              <a:buNone/>
            </a:pPr>
            <a:r>
              <a:rPr b="0" i="0" lang="en-US" sz="1250" u="none" cap="none" strike="noStrike">
                <a:solidFill>
                  <a:srgbClr val="5A6B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Bricolage Grotesque · Hanken Grotesk · Space Mono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7918704" y="3886200"/>
            <a:ext cx="3429000" cy="1783080"/>
          </a:xfrm>
          <a:prstGeom prst="roundRect">
            <a:avLst>
              <a:gd fmla="val 2564" name="adj"/>
            </a:avLst>
          </a:prstGeom>
          <a:solidFill>
            <a:srgbClr val="FFFDF7"/>
          </a:solidFill>
          <a:ln cap="flat" cmpd="sng" w="15875">
            <a:solidFill>
              <a:srgbClr val="17203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7203A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 txBox="1"/>
          <p:nvPr/>
        </p:nvSpPr>
        <p:spPr>
          <a:xfrm>
            <a:off x="8119872" y="4032504"/>
            <a:ext cx="3026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A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&amp; GitHub Pages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8119872" y="4453128"/>
            <a:ext cx="3026664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81"/>
              </a:buClr>
              <a:buSzPts val="1250"/>
              <a:buFont typeface="Times New Roman"/>
              <a:buNone/>
            </a:pPr>
            <a:r>
              <a:rPr b="0" i="0" lang="en-US" sz="1250" u="none" cap="none" strike="noStrike">
                <a:solidFill>
                  <a:srgbClr val="5A6B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Version control and public static deployment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731520" y="589788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81"/>
              </a:buClr>
              <a:buSzPts val="1150"/>
              <a:buFont typeface="Times New Roman"/>
              <a:buNone/>
            </a:pPr>
            <a:r>
              <a:rPr b="0" i="0" lang="en-US" sz="1150" u="none" cap="none" strike="noStrike">
                <a:solidFill>
                  <a:srgbClr val="5A6B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ESLint + Prettier keep the code linted and consistently formatted.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E7E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FF2E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 txBox="1"/>
          <p:nvPr/>
        </p:nvSpPr>
        <p:spPr>
          <a:xfrm>
            <a:off x="731520" y="8686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A"/>
              </a:buClr>
              <a:buSzPts val="3400"/>
              <a:buFont typeface="Times New Roman"/>
              <a:buNone/>
            </a:pPr>
            <a:r>
              <a:rPr b="1" i="0" lang="en-US" sz="34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731520" y="17373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81"/>
              </a:buClr>
              <a:buSzPts val="1550"/>
              <a:buFont typeface="Times New Roman"/>
              <a:buNone/>
            </a:pPr>
            <a:r>
              <a:rPr b="0" i="0" lang="en-US" sz="1550" u="none" cap="none" strike="noStrike">
                <a:solidFill>
                  <a:srgbClr val="5A6B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original interactive components, written from scratch in vanilla JavaScript.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731520" y="2331720"/>
            <a:ext cx="3474720" cy="3200400"/>
          </a:xfrm>
          <a:prstGeom prst="roundRect">
            <a:avLst>
              <a:gd fmla="val 1429" name="adj"/>
            </a:avLst>
          </a:prstGeom>
          <a:solidFill>
            <a:srgbClr val="FFFDF7"/>
          </a:solidFill>
          <a:ln cap="flat" cmpd="sng" w="15875">
            <a:solidFill>
              <a:srgbClr val="17203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7203A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 txBox="1"/>
          <p:nvPr/>
        </p:nvSpPr>
        <p:spPr>
          <a:xfrm>
            <a:off x="932688" y="2478024"/>
            <a:ext cx="30723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A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Regression playground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932688" y="2898648"/>
            <a:ext cx="3072384" cy="248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81"/>
              </a:buClr>
              <a:buSzPts val="1250"/>
              <a:buFont typeface="Times New Roman"/>
              <a:buNone/>
            </a:pPr>
            <a:r>
              <a:rPr b="0" i="0" lang="en-US" sz="1250" u="none" cap="none" strike="noStrike">
                <a:solidFill>
                  <a:srgbClr val="5A6B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the plot to drop data points and a least-squares line refits in real time, with a live equation and R².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3639312" y="2496312"/>
            <a:ext cx="365760" cy="365760"/>
          </a:xfrm>
          <a:prstGeom prst="ellipse">
            <a:avLst/>
          </a:prstGeom>
          <a:solidFill>
            <a:srgbClr val="FF2E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 txBox="1"/>
          <p:nvPr/>
        </p:nvSpPr>
        <p:spPr>
          <a:xfrm>
            <a:off x="3639312" y="249631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407408" y="2331720"/>
            <a:ext cx="3474720" cy="3200400"/>
          </a:xfrm>
          <a:prstGeom prst="roundRect">
            <a:avLst>
              <a:gd fmla="val 1429" name="adj"/>
            </a:avLst>
          </a:prstGeom>
          <a:solidFill>
            <a:srgbClr val="FFFDF7"/>
          </a:solidFill>
          <a:ln cap="flat" cmpd="sng" w="15875">
            <a:solidFill>
              <a:srgbClr val="17203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7203A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 txBox="1"/>
          <p:nvPr/>
        </p:nvSpPr>
        <p:spPr>
          <a:xfrm>
            <a:off x="4608576" y="2478024"/>
            <a:ext cx="30723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A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Orbital sandbox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 txBox="1"/>
          <p:nvPr/>
        </p:nvSpPr>
        <p:spPr>
          <a:xfrm>
            <a:off x="4608576" y="2898648"/>
            <a:ext cx="3072384" cy="248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81"/>
              </a:buClr>
              <a:buSzPts val="1250"/>
              <a:buFont typeface="Times New Roman"/>
              <a:buNone/>
            </a:pPr>
            <a:r>
              <a:rPr b="0" i="0" lang="en-US" sz="1250" u="none" cap="none" strike="noStrike">
                <a:solidFill>
                  <a:srgbClr val="5A6B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two-body gravity simulator — drag to launch a satellite and watch it orbit, crash, or escape. My nod to space.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7315200" y="2496312"/>
            <a:ext cx="365760" cy="365760"/>
          </a:xfrm>
          <a:prstGeom prst="ellipse">
            <a:avLst/>
          </a:prstGeom>
          <a:solidFill>
            <a:srgbClr val="FF2E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 txBox="1"/>
          <p:nvPr/>
        </p:nvSpPr>
        <p:spPr>
          <a:xfrm>
            <a:off x="7315200" y="249631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8083296" y="2331720"/>
            <a:ext cx="3474720" cy="3200400"/>
          </a:xfrm>
          <a:prstGeom prst="roundRect">
            <a:avLst>
              <a:gd fmla="val 1429" name="adj"/>
            </a:avLst>
          </a:prstGeom>
          <a:solidFill>
            <a:srgbClr val="FFFDF7"/>
          </a:solidFill>
          <a:ln cap="flat" cmpd="sng" w="15875">
            <a:solidFill>
              <a:srgbClr val="17203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7203A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 txBox="1"/>
          <p:nvPr/>
        </p:nvSpPr>
        <p:spPr>
          <a:xfrm>
            <a:off x="8284464" y="2478024"/>
            <a:ext cx="30723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A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Command palette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8284464" y="2898648"/>
            <a:ext cx="3072384" cy="248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81"/>
              </a:buClr>
              <a:buSzPts val="1250"/>
              <a:buFont typeface="Times New Roman"/>
              <a:buNone/>
            </a:pPr>
            <a:r>
              <a:rPr b="0" i="0" lang="en-US" sz="1250" u="none" cap="none" strike="noStrike">
                <a:solidFill>
                  <a:srgbClr val="5A6B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Press ⌘K / Ctrl-K to navigate the site and run actions from the keyboard, on every page.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10991088" y="2496312"/>
            <a:ext cx="365760" cy="365760"/>
          </a:xfrm>
          <a:prstGeom prst="ellipse">
            <a:avLst/>
          </a:prstGeom>
          <a:solidFill>
            <a:srgbClr val="FF2E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 txBox="1"/>
          <p:nvPr/>
        </p:nvSpPr>
        <p:spPr>
          <a:xfrm>
            <a:off x="10991088" y="249631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 txBox="1"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E7E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FF2E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hardest()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731520" y="8686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A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hardest part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731520" y="1828800"/>
            <a:ext cx="5120640" cy="4023360"/>
          </a:xfrm>
          <a:prstGeom prst="roundRect">
            <a:avLst>
              <a:gd fmla="val 1136" name="adj"/>
            </a:avLst>
          </a:prstGeom>
          <a:solidFill>
            <a:srgbClr val="FFFDF7"/>
          </a:solidFill>
          <a:ln cap="flat" cmpd="sng" w="15875">
            <a:solidFill>
              <a:srgbClr val="17203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7203A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 txBox="1"/>
          <p:nvPr/>
        </p:nvSpPr>
        <p:spPr>
          <a:xfrm>
            <a:off x="960120" y="201168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E7E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FF2E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challenge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 txBox="1"/>
          <p:nvPr/>
        </p:nvSpPr>
        <p:spPr>
          <a:xfrm>
            <a:off x="960120" y="2377440"/>
            <a:ext cx="4663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7203A"/>
              </a:buClr>
              <a:buSzPts val="1450"/>
              <a:buFont typeface="Times New Roman"/>
              <a:buNone/>
            </a:pPr>
            <a:r>
              <a:rPr b="0" i="0" lang="en-US" sz="145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Making the canvas components feel good to use while staying correct — with no framework to lean on.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 txBox="1"/>
          <p:nvPr/>
        </p:nvSpPr>
        <p:spPr>
          <a:xfrm>
            <a:off x="960120" y="3611880"/>
            <a:ext cx="46634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A6B81"/>
              </a:buClr>
              <a:buSzPts val="1350"/>
              <a:buFont typeface="Times New Roman"/>
              <a:buChar char="•"/>
            </a:pPr>
            <a:r>
              <a:rPr b="0" i="0" lang="en-US" sz="1350" u="none" cap="none" strike="noStrike">
                <a:solidFill>
                  <a:srgbClr val="5A6B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Stable inverse-square gravity for the orbit sim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5A6B81"/>
              </a:buClr>
              <a:buSzPts val="1350"/>
              <a:buFont typeface="Times New Roman"/>
              <a:buChar char="•"/>
            </a:pPr>
            <a:r>
              <a:rPr b="0" i="0" lang="en-US" sz="1350" u="none" cap="none" strike="noStrike">
                <a:solidFill>
                  <a:srgbClr val="5A6B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Canvas redraws that follow the theme, crisp on retina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5A6B81"/>
              </a:buClr>
              <a:buSzPts val="1350"/>
              <a:buFont typeface="Times New Roman"/>
              <a:buChar char="•"/>
            </a:pPr>
            <a:r>
              <a:rPr b="0" i="0" lang="en-US" sz="1350" u="none" cap="none" strike="noStrike">
                <a:solidFill>
                  <a:srgbClr val="5A6B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Accessible: keyboard, reduced-motion, W3C-valid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6309360" y="1828800"/>
            <a:ext cx="5120640" cy="4023360"/>
          </a:xfrm>
          <a:prstGeom prst="roundRect">
            <a:avLst>
              <a:gd fmla="val 1136" name="adj"/>
            </a:avLst>
          </a:prstGeom>
          <a:solidFill>
            <a:srgbClr val="FFFDF7"/>
          </a:solidFill>
          <a:ln cap="flat" cmpd="sng" w="15875">
            <a:solidFill>
              <a:srgbClr val="17203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7203A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 txBox="1"/>
          <p:nvPr/>
        </p:nvSpPr>
        <p:spPr>
          <a:xfrm>
            <a:off x="6537960" y="201168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BD6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1F5B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I solved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 txBox="1"/>
          <p:nvPr/>
        </p:nvSpPr>
        <p:spPr>
          <a:xfrm>
            <a:off x="6537960" y="2377440"/>
            <a:ext cx="46634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7203A"/>
              </a:buClr>
              <a:buSzPts val="1400"/>
              <a:buFont typeface="Times New Roman"/>
              <a:buChar char="•"/>
            </a:pPr>
            <a:r>
              <a:rPr b="0" i="0" lang="en-US" sz="14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each feature into its own small ES6 module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7203A"/>
              </a:buClr>
              <a:buSzPts val="1400"/>
              <a:buFont typeface="Times New Roman"/>
              <a:buChar char="•"/>
            </a:pPr>
            <a:r>
              <a:rPr b="0" i="0" lang="en-US" sz="14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colours from CSS variables; redraw on theme change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7203A"/>
              </a:buClr>
              <a:buSzPts val="1400"/>
              <a:buFont typeface="Times New Roman"/>
              <a:buChar char="•"/>
            </a:pPr>
            <a:r>
              <a:rPr b="0" i="0" lang="en-US" sz="14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Tested on real devices and against the W3C validator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7203A"/>
              </a:buClr>
              <a:buSzPts val="1400"/>
              <a:buFont typeface="Times New Roman"/>
              <a:buChar char="•"/>
            </a:pPr>
            <a:r>
              <a:rPr b="0" i="0" lang="en-US" sz="14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custom events so the palette can drive the plot &amp; orbit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E7E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FF2E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 txBox="1"/>
          <p:nvPr/>
        </p:nvSpPr>
        <p:spPr>
          <a:xfrm>
            <a:off x="731520" y="914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A"/>
              </a:buClr>
              <a:buSzPts val="3800"/>
              <a:buFont typeface="Times New Roman"/>
              <a:buNone/>
            </a:pPr>
            <a:r>
              <a:rPr b="1" i="0" lang="en-US" sz="38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demo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 txBox="1"/>
          <p:nvPr/>
        </p:nvSpPr>
        <p:spPr>
          <a:xfrm>
            <a:off x="731520" y="187452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E7E"/>
              </a:buClr>
              <a:buSzPts val="2100"/>
              <a:buFont typeface="Times New Roman"/>
              <a:buNone/>
            </a:pPr>
            <a:r>
              <a:rPr b="1" i="0" lang="en-US" sz="2100" u="none" cap="none" strike="noStrike">
                <a:solidFill>
                  <a:srgbClr val="FF2E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tpatel2103.github.io/Trupal-homepage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731520" y="27889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8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5A6B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 txBox="1"/>
          <p:nvPr/>
        </p:nvSpPr>
        <p:spPr>
          <a:xfrm>
            <a:off x="731520" y="31089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A"/>
              </a:buClr>
              <a:buSzPts val="1650"/>
              <a:buFont typeface="Times New Roman"/>
              <a:buNone/>
            </a:pPr>
            <a:r>
              <a:rPr b="0" i="0" lang="en-US" sz="165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Home · Projects · About · Blog · Contact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731520" y="38862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8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5A6B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 txBox="1"/>
          <p:nvPr/>
        </p:nvSpPr>
        <p:spPr>
          <a:xfrm>
            <a:off x="731520" y="4206240"/>
            <a:ext cx="75895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7203A"/>
              </a:buClr>
              <a:buSzPts val="1500"/>
              <a:buFont typeface="Times New Roman"/>
              <a:buChar char="•"/>
            </a:pPr>
            <a:r>
              <a:rPr b="0" i="0" lang="en-US" sz="15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Press ⌘K / Ctrl-K to open the command palette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7203A"/>
              </a:buClr>
              <a:buSzPts val="1500"/>
              <a:buFont typeface="Times New Roman"/>
              <a:buChar char="•"/>
            </a:pPr>
            <a:r>
              <a:rPr b="0" i="0" lang="en-US" sz="15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the plot to add points and watch the line refit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7203A"/>
              </a:buClr>
              <a:buSzPts val="1500"/>
              <a:buFont typeface="Times New Roman"/>
              <a:buChar char="•"/>
            </a:pPr>
            <a:r>
              <a:rPr b="0" i="0" lang="en-US" sz="15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Drag inside the orbital sandbox to launch a satellite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7203A"/>
              </a:buClr>
              <a:buSzPts val="1500"/>
              <a:buFont typeface="Times New Roman"/>
              <a:buChar char="•"/>
            </a:pPr>
            <a:r>
              <a:rPr b="0" i="0" lang="en-US" sz="15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Toggle dark / light mode from the top-right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8"/>
          <p:cNvGrpSpPr/>
          <p:nvPr/>
        </p:nvGrpSpPr>
        <p:grpSpPr>
          <a:xfrm>
            <a:off x="5592195" y="2042100"/>
            <a:ext cx="6400663" cy="3547035"/>
            <a:chOff x="7635240" y="2057400"/>
            <a:chExt cx="4069080" cy="2254949"/>
          </a:xfrm>
        </p:grpSpPr>
        <p:sp>
          <p:nvSpPr>
            <p:cNvPr id="124" name="Google Shape;124;p8"/>
            <p:cNvSpPr/>
            <p:nvPr/>
          </p:nvSpPr>
          <p:spPr>
            <a:xfrm>
              <a:off x="7635240" y="2057400"/>
              <a:ext cx="4069080" cy="2254949"/>
            </a:xfrm>
            <a:prstGeom prst="roundRect">
              <a:avLst>
                <a:gd fmla="val 1622" name="adj"/>
              </a:avLst>
            </a:prstGeom>
            <a:solidFill>
              <a:srgbClr val="FFFDF7"/>
            </a:solidFill>
            <a:ln cap="flat" cmpd="sng" w="24975">
              <a:solidFill>
                <a:srgbClr val="17203A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59820" rotWithShape="0" algn="bl" dir="2700000" dist="99888">
                <a:srgbClr val="17203A"/>
              </a:outerShdw>
            </a:effectLst>
          </p:spPr>
          <p:txBody>
            <a:bodyPr anchorCtr="0" anchor="ctr" bIns="143825" lIns="143825" spcFirstLastPara="1" rIns="143825" wrap="square" tIns="143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/home/claude/homepage/images/screenshot-orbit.png" id="125" name="Google Shape;125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80960" y="2103120"/>
              <a:ext cx="3977640" cy="216350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/>
        </p:nvSpPr>
        <p:spPr>
          <a:xfrm>
            <a:off x="731523" y="2103125"/>
            <a:ext cx="5518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A"/>
              </a:buClr>
              <a:buSzPts val="4800"/>
              <a:buFont typeface="Times New Roman"/>
              <a:buNone/>
            </a:pPr>
            <a:r>
              <a:rPr b="1" i="0" lang="en-US" sz="88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8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 txBox="1"/>
          <p:nvPr/>
        </p:nvSpPr>
        <p:spPr>
          <a:xfrm>
            <a:off x="749808" y="3383280"/>
            <a:ext cx="10058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03A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172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Trupal Jageshkumar Patel</a:t>
            </a:r>
            <a:endParaRPr b="1" i="0" sz="1600" u="none" cap="none" strike="noStrike">
              <a:solidFill>
                <a:srgbClr val="17203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A"/>
              </a:buClr>
              <a:buSzPts val="1600"/>
              <a:buFont typeface="Times New Roman"/>
              <a:buNone/>
            </a:pPr>
            <a:r>
              <a:rPr lang="en-US" sz="1600">
                <a:solidFill>
                  <a:srgbClr val="5A6B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NUID: 002546083</a:t>
            </a:r>
            <a:endParaRPr sz="1600">
              <a:solidFill>
                <a:srgbClr val="5A6B8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8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5A6B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Patel.trupa@northeastern.edu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B8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5A6B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linkedin.com/in/trupal-patel-08a959268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F2E7E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FF2E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tpatel2103.github.io/Trupal-homepage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" name="Google Shape;133;p9"/>
          <p:cNvGrpSpPr/>
          <p:nvPr/>
        </p:nvGrpSpPr>
        <p:grpSpPr>
          <a:xfrm>
            <a:off x="6337505" y="1338678"/>
            <a:ext cx="5518221" cy="4180637"/>
            <a:chOff x="8412480" y="1005840"/>
            <a:chExt cx="3017400" cy="2286000"/>
          </a:xfrm>
        </p:grpSpPr>
        <p:grpSp>
          <p:nvGrpSpPr>
            <p:cNvPr id="134" name="Google Shape;134;p9"/>
            <p:cNvGrpSpPr/>
            <p:nvPr/>
          </p:nvGrpSpPr>
          <p:grpSpPr>
            <a:xfrm>
              <a:off x="8412480" y="1005840"/>
              <a:ext cx="3017400" cy="2286000"/>
              <a:chOff x="8412480" y="1005840"/>
              <a:chExt cx="3017400" cy="2286000"/>
            </a:xfrm>
          </p:grpSpPr>
          <p:sp>
            <p:nvSpPr>
              <p:cNvPr id="135" name="Google Shape;135;p9"/>
              <p:cNvSpPr/>
              <p:nvPr/>
            </p:nvSpPr>
            <p:spPr>
              <a:xfrm>
                <a:off x="8412480" y="1005840"/>
                <a:ext cx="3017400" cy="2286000"/>
              </a:xfrm>
              <a:prstGeom prst="roundRect">
                <a:avLst>
                  <a:gd fmla="val 2000" name="adj"/>
                </a:avLst>
              </a:prstGeom>
              <a:solidFill>
                <a:srgbClr val="FFFDF7"/>
              </a:solidFill>
              <a:ln cap="flat" cmpd="sng" w="29025">
                <a:solidFill>
                  <a:srgbClr val="17203A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185805" rotWithShape="0" algn="bl" dir="2700000" dist="116128">
                  <a:srgbClr val="17203A"/>
                </a:outerShdw>
              </a:effectLst>
            </p:spPr>
            <p:txBody>
              <a:bodyPr anchorCtr="0" anchor="ctr" bIns="167200" lIns="167200" spcFirstLastPara="1" rIns="167200" wrap="square" tIns="1672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560"/>
              </a:p>
            </p:txBody>
          </p:sp>
          <p:sp>
            <p:nvSpPr>
              <p:cNvPr id="136" name="Google Shape;136;p9"/>
              <p:cNvSpPr txBox="1"/>
              <p:nvPr/>
            </p:nvSpPr>
            <p:spPr>
              <a:xfrm>
                <a:off x="8595360" y="1115568"/>
                <a:ext cx="265176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5A6B81"/>
                  </a:buClr>
                  <a:buSzPts val="1920"/>
                  <a:buFont typeface="Times New Roman"/>
                  <a:buNone/>
                </a:pPr>
                <a:r>
                  <a:rPr b="0" i="0" lang="en-US" sz="1920" u="none" cap="none" strike="noStrike">
                    <a:solidFill>
                      <a:srgbClr val="5A6B8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least-squares.playground</a:t>
                </a:r>
                <a:endParaRPr b="0" i="0" sz="192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7" name="Google Shape;137;p9"/>
              <p:cNvCxnSpPr/>
              <p:nvPr/>
            </p:nvCxnSpPr>
            <p:spPr>
              <a:xfrm>
                <a:off x="8595360" y="1508760"/>
                <a:ext cx="2651760" cy="0"/>
              </a:xfrm>
              <a:prstGeom prst="straightConnector1">
                <a:avLst/>
              </a:prstGeom>
              <a:noFill/>
              <a:ln cap="flat" cmpd="sng" w="23225">
                <a:solidFill>
                  <a:srgbClr val="D6E0EC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8" name="Google Shape;138;p9"/>
              <p:cNvCxnSpPr/>
              <p:nvPr/>
            </p:nvCxnSpPr>
            <p:spPr>
              <a:xfrm>
                <a:off x="8869680" y="1691640"/>
                <a:ext cx="0" cy="1280160"/>
              </a:xfrm>
              <a:prstGeom prst="straightConnector1">
                <a:avLst/>
              </a:prstGeom>
              <a:noFill/>
              <a:ln cap="flat" cmpd="sng" w="23225">
                <a:solidFill>
                  <a:srgbClr val="D6E0EC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9" name="Google Shape;139;p9"/>
              <p:cNvCxnSpPr/>
              <p:nvPr/>
            </p:nvCxnSpPr>
            <p:spPr>
              <a:xfrm>
                <a:off x="8869680" y="2971800"/>
                <a:ext cx="2194560" cy="0"/>
              </a:xfrm>
              <a:prstGeom prst="straightConnector1">
                <a:avLst/>
              </a:prstGeom>
              <a:noFill/>
              <a:ln cap="flat" cmpd="sng" w="23225">
                <a:solidFill>
                  <a:srgbClr val="D6E0EC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0" name="Google Shape;140;p9"/>
              <p:cNvCxnSpPr/>
              <p:nvPr/>
            </p:nvCxnSpPr>
            <p:spPr>
              <a:xfrm flipH="1" rot="10800000">
                <a:off x="8961120" y="1920240"/>
                <a:ext cx="2011680" cy="960120"/>
              </a:xfrm>
              <a:prstGeom prst="straightConnector1">
                <a:avLst/>
              </a:prstGeom>
              <a:noFill/>
              <a:ln cap="flat" cmpd="sng" w="52250">
                <a:solidFill>
                  <a:srgbClr val="1F5BD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41" name="Google Shape;141;p9"/>
            <p:cNvSpPr/>
            <p:nvPr/>
          </p:nvSpPr>
          <p:spPr>
            <a:xfrm>
              <a:off x="9116568" y="2784348"/>
              <a:ext cx="91440" cy="91440"/>
            </a:xfrm>
            <a:prstGeom prst="ellipse">
              <a:avLst/>
            </a:prstGeom>
            <a:solidFill>
              <a:srgbClr val="FF2E7E"/>
            </a:solidFill>
            <a:ln cap="flat" cmpd="sng" w="17425">
              <a:solidFill>
                <a:srgbClr val="17203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7200" lIns="167200" spcFirstLastPara="1" rIns="167200" wrap="square" tIns="167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9"/>
            <p:cNvSpPr/>
            <p:nvPr/>
          </p:nvSpPr>
          <p:spPr>
            <a:xfrm>
              <a:off x="9478670" y="2529230"/>
              <a:ext cx="91440" cy="91440"/>
            </a:xfrm>
            <a:prstGeom prst="ellipse">
              <a:avLst/>
            </a:prstGeom>
            <a:solidFill>
              <a:srgbClr val="FF2E7E"/>
            </a:solidFill>
            <a:ln cap="flat" cmpd="sng" w="17425">
              <a:solidFill>
                <a:srgbClr val="17203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7200" lIns="167200" spcFirstLastPara="1" rIns="167200" wrap="square" tIns="167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9"/>
            <p:cNvSpPr/>
            <p:nvPr/>
          </p:nvSpPr>
          <p:spPr>
            <a:xfrm>
              <a:off x="9800539" y="2457907"/>
              <a:ext cx="91440" cy="91440"/>
            </a:xfrm>
            <a:prstGeom prst="ellipse">
              <a:avLst/>
            </a:prstGeom>
            <a:solidFill>
              <a:srgbClr val="FF2E7E"/>
            </a:solidFill>
            <a:ln cap="flat" cmpd="sng" w="17425">
              <a:solidFill>
                <a:srgbClr val="17203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7200" lIns="167200" spcFirstLastPara="1" rIns="167200" wrap="square" tIns="167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9"/>
            <p:cNvSpPr/>
            <p:nvPr/>
          </p:nvSpPr>
          <p:spPr>
            <a:xfrm>
              <a:off x="10122408" y="2221992"/>
              <a:ext cx="91440" cy="91440"/>
            </a:xfrm>
            <a:prstGeom prst="ellipse">
              <a:avLst/>
            </a:prstGeom>
            <a:solidFill>
              <a:srgbClr val="FF2E7E"/>
            </a:solidFill>
            <a:ln cap="flat" cmpd="sng" w="17425">
              <a:solidFill>
                <a:srgbClr val="17203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7200" lIns="167200" spcFirstLastPara="1" rIns="167200" wrap="square" tIns="167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9"/>
            <p:cNvSpPr/>
            <p:nvPr/>
          </p:nvSpPr>
          <p:spPr>
            <a:xfrm>
              <a:off x="10424160" y="2160270"/>
              <a:ext cx="91440" cy="91440"/>
            </a:xfrm>
            <a:prstGeom prst="ellipse">
              <a:avLst/>
            </a:prstGeom>
            <a:solidFill>
              <a:srgbClr val="FF2E7E"/>
            </a:solidFill>
            <a:ln cap="flat" cmpd="sng" w="17425">
              <a:solidFill>
                <a:srgbClr val="17203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7200" lIns="167200" spcFirstLastPara="1" rIns="167200" wrap="square" tIns="167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10725912" y="1933956"/>
              <a:ext cx="91440" cy="91440"/>
            </a:xfrm>
            <a:prstGeom prst="ellipse">
              <a:avLst/>
            </a:prstGeom>
            <a:solidFill>
              <a:srgbClr val="FF2E7E"/>
            </a:solidFill>
            <a:ln cap="flat" cmpd="sng" w="17425">
              <a:solidFill>
                <a:srgbClr val="17203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7200" lIns="167200" spcFirstLastPara="1" rIns="167200" wrap="square" tIns="167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